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 CNN</c:v>
                </c:pt>
                <c:pt idx="1">
                  <c:v>VGG16</c:v>
                </c:pt>
                <c:pt idx="2">
                  <c:v>ResNet50</c:v>
                </c:pt>
                <c:pt idx="3">
                  <c:v>EfficientNetB0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Baseline CNN</c:v>
                </c:pt>
                <c:pt idx="1">
                  <c:v>VGG16</c:v>
                </c:pt>
                <c:pt idx="2">
                  <c:v>ResNet50</c:v>
                </c:pt>
                <c:pt idx="3">
                  <c:v>EfficientNetB0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</c:v>
                </c:pt>
                <c:pt idx="1">
                  <c:v>83</c:v>
                </c:pt>
                <c:pt idx="2">
                  <c:v>87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6B6B"/>
                </a:solidFill>
              </a:defRPr>
            </a:pPr>
            <a:r>
              <a:t>🦋 Butterfly Species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46E7A"/>
                </a:solidFill>
              </a:defRPr>
            </a:pPr>
            <a:r>
              <a:t>Automated Identification Using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Capstone Project | Deep Learning Course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F6B6B"/>
          </a:solidFill>
          <a:ln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The Challenge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Manual butterfly identification requires extensive expertise. Similar wing patterns and environmental variations make classification difficult.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560320" cy="82296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6B6B"/>
                </a:solidFill>
              </a:defRPr>
            </a:pPr>
            <a:r>
              <a:t>75</a:t>
            </a:r>
          </a:p>
          <a:p>
            <a:pPr algn="ctr">
              <a:defRPr sz="1200">
                <a:solidFill>
                  <a:srgbClr val="546E7A"/>
                </a:solidFill>
              </a:defRPr>
            </a:pPr>
            <a:r>
              <a:t>Species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2286000"/>
            <a:ext cx="2560320" cy="82296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6B6B"/>
                </a:solidFill>
              </a:defRPr>
            </a:pPr>
            <a:r>
              <a:t>1000+</a:t>
            </a:r>
          </a:p>
          <a:p>
            <a:pPr algn="ctr">
              <a:defRPr sz="1200">
                <a:solidFill>
                  <a:srgbClr val="546E7A"/>
                </a:solidFill>
              </a:defRPr>
            </a:pPr>
            <a:r>
              <a:t>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286000"/>
            <a:ext cx="2560320" cy="82296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6B6B"/>
                </a:solidFill>
              </a:defRPr>
            </a:pPr>
            <a:r>
              <a:t>91%</a:t>
            </a:r>
          </a:p>
          <a:p>
            <a:pPr algn="ctr">
              <a:defRPr sz="1200">
                <a:solidFill>
                  <a:srgbClr val="546E7A"/>
                </a:solidFill>
              </a:defRPr>
            </a:pPr>
            <a:r>
              <a:t>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Dataset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100584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Dataset Source</a:t>
            </a:r>
          </a:p>
          <a:p>
            <a:pPr>
              <a:spcBef>
                <a:spcPts val="800"/>
              </a:spcBef>
              <a:defRPr sz="1200">
                <a:solidFill>
                  <a:srgbClr val="546E7A"/>
                </a:solidFill>
              </a:defRPr>
            </a:pPr>
            <a:r>
              <a:t>Kaggle Butterfly Classification with 75 species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3931920" cy="100584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Train/Test Split</a:t>
            </a:r>
          </a:p>
          <a:p>
            <a:pPr>
              <a:spcBef>
                <a:spcPts val="800"/>
              </a:spcBef>
              <a:defRPr sz="1200">
                <a:solidFill>
                  <a:srgbClr val="546E7A"/>
                </a:solidFill>
              </a:defRPr>
            </a:pPr>
            <a:r>
              <a:t>Training: 80% stratified</a:t>
            </a:r>
            <a:br/>
            <a:r>
              <a:t>Validation: 20% balanced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3931920" cy="100584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Image Properties</a:t>
            </a:r>
          </a:p>
          <a:p>
            <a:pPr>
              <a:spcBef>
                <a:spcPts val="800"/>
              </a:spcBef>
              <a:defRPr sz="1200">
                <a:solidFill>
                  <a:srgbClr val="546E7A"/>
                </a:solidFill>
              </a:defRPr>
            </a:pPr>
            <a:r>
              <a:t>Size: 224×224 pixels</a:t>
            </a:r>
            <a:br/>
            <a:r>
              <a:t>Format: RGB, normalized [0,1]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6B6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 Augmentation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Rotation: ±20°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Horizontal flipping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Width/Height shifts: 20%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Brightness: 0.8-1.2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Zoom: ±20%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011680" cy="73152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Baseline CNN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3 Conv blocks</a:t>
            </a:r>
            <a:br/>
            <a:r>
              <a:t>2.5M params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097280"/>
            <a:ext cx="2011680" cy="73152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VGG16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Transfer learning</a:t>
            </a:r>
            <a:br/>
            <a:r>
              <a:t>138M params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097280"/>
            <a:ext cx="2011680" cy="73152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ResNet50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Residual connections</a:t>
            </a:r>
            <a:br/>
            <a:r>
              <a:t>25M params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79" y="1097280"/>
            <a:ext cx="2011680" cy="73152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EfficientNetB0 ⭐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Best model</a:t>
            </a:r>
            <a:br/>
            <a:r>
              <a:t>5.3M params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4114800" cy="219456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Training Setup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Loss: Categorical Cross-Entropy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Optimizer: Adam (lr=0.001)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Batch Size: 32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Epochs: 30-50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103120"/>
            <a:ext cx="4114800" cy="219456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Regularization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Batch Normalization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Dropout: 0.3-0.5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Early Stopping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Results &amp; Model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0" y="1097280"/>
            <a:ext cx="3017520" cy="1097280"/>
          </a:xfrm>
          <a:prstGeom prst="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🏆 Best Model: EfficientNetB0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Accuracy: 91.0%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F1-Score: 0.90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Top-5 Accuracy: 97.5%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377440"/>
            <a:ext cx="3017520" cy="100584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Key Improvements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Transfer learning: +19%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Fine-tuning: +3%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Web Application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109728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Core Features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Real-time image upload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Instant prediction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Top-5 species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097280"/>
            <a:ext cx="2743200" cy="109728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Tech Stack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Framework: Streamlit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Backend: TensorFlow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Viz: Plotly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97280"/>
            <a:ext cx="2743200" cy="109728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Performance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Prediction: 1-2 sec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Model: 21 MB</a:t>
            </a:r>
          </a:p>
          <a:p>
            <a:pPr>
              <a:spcBef>
                <a:spcPts val="400"/>
              </a:spcBef>
              <a:defRPr sz="1100">
                <a:solidFill>
                  <a:srgbClr val="546E7A"/>
                </a:solidFill>
              </a:defRPr>
            </a:pPr>
            <a:r>
              <a:t>• CPU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solidFill>
            <a:srgbClr val="FF6B6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Deployment Architecture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User Interface  →  Preprocessing  →  CNN Model  →  Results</a:t>
            </a:r>
          </a:p>
          <a:p>
            <a:pPr algn="ctr"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Image upload  →  Resize &amp; normalize  →  EfficientNetB0  →  Top-5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ECC7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✅ Key Achievements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91% accuracy on 75-species task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Deployed working web application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Transfer learning highly effective (+19%)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4114800" cy="201168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Limitations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Limited samples for rare species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Primarily frontal wing views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Confusion between similar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286000"/>
            <a:ext cx="4114800" cy="2011680"/>
          </a:xfrm>
          <a:prstGeom prst="rect">
            <a:avLst/>
          </a:prstGeom>
          <a:solidFill>
            <a:srgbClr val="F8F9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Future Improvements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Expand dataset coverage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Multi-angle support</a:t>
            </a:r>
          </a:p>
          <a:p>
            <a:pPr>
              <a:spcBef>
                <a:spcPts val="600"/>
              </a:spcBef>
              <a:defRPr sz="1200">
                <a:solidFill>
                  <a:srgbClr val="546E7A"/>
                </a:solidFill>
              </a:defRPr>
            </a:pPr>
            <a:r>
              <a:t>• Mobile app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</a:defRPr>
            </a:pPr>
            <a:r>
              <a:t>🦋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46E7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